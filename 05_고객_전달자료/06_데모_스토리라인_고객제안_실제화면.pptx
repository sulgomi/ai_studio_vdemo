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35ed37cf-217b-ddac-e491-bc895a15b05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안 A: 2030 투자입문자" id="{e8477ed9-fe9c-e4be-7914-a0d50c4448b3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안 B: GenZ 특화" id="{5f540ba3-4ebc-2aa8-5b07-9cb7555a4ae1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화면 구성 샘플" id="{1c254f95-4a15-2f38-4392-f8e7dfc4e017}">
          <p14:sldIdLst>
            <p14:sldId id="288"/>
            <p14:sldId id="289"/>
            <p14:sldId id="290"/>
            <p14:sldId id="291"/>
          </p14:sldIdLst>
        </p14:section>
        <p14:section name="확인 요청" id="{65c01993-aadf-0977-642a-1eecfd347faa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01: 오프닝
자막: 카드 상품기획 전 과정을 에이전트 팀이 분담
핵심 내용: 카드 신상품 기획은 다수 부서가 장기간 협업해야 하는 업무. AI 에이전트 팀이 역할을 나누고 서로 협의하며 수행하는 방식을 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02: 요청 입력과 범위 확인
자막: 요청 한 줄 입력 → AI의 범위 해석 → 사람 확인
핵심 내용: 요청은 한 줄 입력으로 시작. 타깃·카드 유형·가정 등 AI의 해석 내용을 사람이 먼저 확인하며, 모든 내용은 기록으로 보관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03: 시장조사: 에이전트 동시 실행
자막: 3개 에이전트 동시 조사, 근거와 출처를 붙여 종합
핵심 내용: 시장조사 총괄 에이전트가 3개 에이전트를 동시에 호출하고 근거별 출처와 신뢰도를 붙여 종합. 상충하는 결과는 하나로 합치지 않고 나란히 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04: 기회 선택
자막: 점수는 코드가 계산, 선택은 사람이 결정
핵심 내용: 기회 점수는 코드가 계산하고 AI가 근거와 위험 요인을 보강해 3개를 압축. 최종 선택은 사람이 결정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05: 컨셉 3안과 시장성 검증
자막: 가상 고객 시뮬레이션(가정 기반) · 실제 전환율 아님
핵심 내용: 컨셉 3안의 손익·경쟁 카드 유사도는 코드가 계산. 가상 고객 시뮬레이션으로 시장성을 확인하고 경쟁사 모방 시 변화까지 비교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06: 에이전트 간 협의를 통한 컨셉 보완
자막: 에이전트 간 협의로 컨셉 보완, 가드레일은 필요 시에만 참여
핵심 내용: 컨셉·검증 에이전트가 결과를 주고받으며 쟁점을 도출. 필요 시 가드레일 에이전트가 재무·준법 의견을 추가하며, 협의 결과로 ‘같이굴려요’가 ‘함께쌓기’로 변경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07: 디자인·마케팅
자막: 이름·시안 3안·영상 스토리보드 작성, 사람이 확정
핵심 내용: 디자인·마케팅 에이전트가 이름 후보, 카드 시안, 홍보 영상 스토리보드를 작성. 혜택 수치 변경·금칙어 사용은 자동 검수에서 차단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08: 신상품기획보고서 통합 작성
자막: 6개 에이전트 결과를 하나의 신상품기획보고서로 통합
핵심 내용: 시장조사·시장기회·컨셉·시장성·가드레일·디자인 결과를 에이전트별 나열이 아닌 주제별 보고서로 통합. 핵심 요약, 의사결정 요청, 확인 필요 사항을 한 문서에 정리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09: 개별 활용: 담당 에이전트 호출
자막: 질문 분석 후 맞는 전문 에이전트를 오케스트레이터가 호출
핵심 내용: 에이전트 단독 활용 시 질문을 그대로 입력. 오케스트레이터가 입력을 분석해 해당 역할의 전문 에이전트를 호출하고, 경쟁사 에이전트가 시장 공백을 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10: 개별 활용: 타 전문가와 협의
자막: 필요 시 타 전문가 에이전트를 함께 호출해 의견 종합
핵심 내용: 타 영역 전문성이 필요하면 오케스트레이터가 다른 에이전트를 함께 호출. 3개 에이전트가 의견을 모아 쟁점과 근거를 정리하고, 최종 의사결정은 사람을 지원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11: 클로징: 실제와 가정의 구분
자막: AI 생성 · 코드 계산 · 가정을 한 장으로 구분
핵심 내용: 결과를 AI 생성분, 코드 계산분, 가정으로 구분해 공개. 고객사 데이터 수령 시 가정치를 교체해 실제 입력 기반으로 재시연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01: 요청 입력과 범위 확인
자막: GenZ를 만 19~29세로 해석, 사람이 범위 확인
핵심 내용: 요청은 한 줄 입력. AI가 GenZ를 신용카드 발급이 가능한 만 19~29세로 해석하고 투자 연계는 범위에서 제외, 해석 내용은 사람이 먼저 확인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02: 시장조사와 종합
자막: 에이전트 조사 결과 종합, 상충 근거는 병기
핵심 내용: 3개 에이전트가 조사하고 총괄 에이전트가 종합. 상충하는 근거 3건은 하나로 합치지 않고 그대로 병기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03: 기회 선택
자막: 점수·현실성은 코드가 점검, 선택은 사람이 결정
핵심 내용: 기회 점수와 시장 천장은 코드가 계산하고 최종 선택은 사람이 결정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04: 컨셉 3안과 평가
자막: 가상 고객 시뮬레이션(가정 기반) · 실제 전환율 아님
핵심 내용: 컨셉 에이전트가 3안을 제시하고 코드가 손익·경쟁 카드 유사도·복잡도를 계산해 1안을 탈락 처리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05: 에이전트 간 협의를 통한 컨셉 재설계
자막: 에이전트 간 쟁점 교환을 거쳐 컨셉 재설계
핵심 내용: 컨셉·검증 에이전트가 쟁점을 교환. ‘알아서 맞춤’ 이름의 AI 개인화 오인, 체리피킹 비중 등을 정리하고 필요 시 가드레일 에이전트가 의견을 추가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06: 협의 결과
자막: 협의 결과가 이름·규칙에 반영, 미해결 항목은 공개
핵심 내용: 협의 결과 이름은 ‘많이 쓴 영역 캐시백 카드’, 1위 영역 판정은 직전 3개월 합계, 환급은 연 1회로 변경. 미해결 항목은 숨기지 않고 담당 부서 확인 사항으로 유지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07: 디자인·마케팅과 근거 재조사
자막: 근거 부족 시 타 에이전트에 재조사 요청, 없는 근거는 공개
핵심 내용: 디자인·마케팅 에이전트가 이름·시안·스토리보드를 작성하는 중 근거 부족 3개 주제를 트렌드 에이전트에 재조사 요청. 약한 근거는 그대로 표기하고 미확인 수치는 근거 없음으로 처리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08: 신상품기획보고서 통합 작성
자막: 6개 에이전트 결과를 하나의 신상품기획보고서로 통합
핵심 내용: 에이전트별 결과를 순서대로 나열하지 않고 핵심 요약 → 시장과 기회 → 상품 컨셉 → 시장성 → 브랜드·디자인 → 리스크 → 의사결정 요청 순으로 통합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09: 개별 활용: 담당 에이전트 호출
자막: 질문 분석 후 맞는 전문 에이전트를 오케스트레이터가 호출
핵심 내용: 에이전트 단독 활용 시 질문을 그대로 입력. 오케스트레이터가 입력을 분석해 경쟁사 에이전트를 호출하고, 경쟁사 에이전트가 비어 있는 혜택을 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10: 개별 활용: 타 전문가와 협의
자막: 필요 시 타 전문가 에이전트를 함께 호출해 의견 종합
핵심 내용: 혜택 공백이 곧 수요는 아니므로 오케스트레이터가 소비자·트렌드 에이전트를 함께 호출해 의견을 취합하고, 최종 의사결정은 사람을 지원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카드 신상품 기획 AI 에이전트 · 데모 영상 스토리라인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카드 신상품 기획 AI 에이전트 · 데모 스토리라인 (초안)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N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카드 신상품 기획 AI 에이전트 · 데모 스토리라인 (초안)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카드 신상품 기획 AI 에이전트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데모 영상 스토리라인 제안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요청 한 줄에서 기획서까지, 에이전트 팀의 협업 과정을 보여 주는 3분대 영상. 2개 시나리오 안 중 1개를 선택해 제작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실제 화면 버전  ·  초안  ·  2026-10-20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영상 핵심 메시지 5가지</a:t>
            </a:r>
            <a:endParaRPr lang="en-US" sz="3200" dirty="0"/>
          </a:p>
        </p:txBody>
      </p:sp>
      <p:sp>
        <p:nvSpPr>
          <p:cNvPr id="3" name="핵심카드01"/>
          <p:cNvSpPr/>
          <p:nvPr/>
        </p:nvSpPr>
        <p:spPr>
          <a:xfrm>
            <a:off x="457200" y="1371600"/>
            <a:ext cx="3639312" cy="283464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2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다수 에이전트의 동시 수행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트렌드·경쟁사·소비자 에이전트가 동시에 조사하고, 근거별 출처·신뢰도를 부여해 종합</a:t>
            </a:r>
            <a:endParaRPr lang="en-US" sz="1400" dirty="0"/>
          </a:p>
        </p:txBody>
      </p:sp>
      <p:sp>
        <p:nvSpPr>
          <p:cNvPr id="7" name="핵심카드02"/>
          <p:cNvSpPr/>
          <p:nvPr/>
        </p:nvSpPr>
        <p:spPr>
          <a:xfrm>
            <a:off x="4270248" y="1371600"/>
            <a:ext cx="3639312" cy="283464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44568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에이전트 간 상호 협의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컨셉·검증·디자인 에이전트가 결과와 쟁점을 교환하며 결론을 보완. 가드레일은 필요 시 추가되는 선택 기능</a:t>
            </a:r>
            <a:endParaRPr lang="en-US" sz="1400" dirty="0"/>
          </a:p>
        </p:txBody>
      </p:sp>
      <p:sp>
        <p:nvSpPr>
          <p:cNvPr id="11" name="핵심카드03"/>
          <p:cNvSpPr/>
          <p:nvPr/>
        </p:nvSpPr>
        <p:spPr>
          <a:xfrm>
            <a:off x="8083296" y="1371600"/>
            <a:ext cx="3639312" cy="283464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2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7616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근거 기반 통합 보고서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6개 에이전트 결과를 주제별로 통합한 신상품기획보고서 제공, 문장별 근거 출처 확인 가능</a:t>
            </a:r>
            <a:endParaRPr lang="en-US" sz="1400" dirty="0"/>
          </a:p>
        </p:txBody>
      </p:sp>
      <p:sp>
        <p:nvSpPr>
          <p:cNvPr id="15" name="보조카드04"/>
          <p:cNvSpPr/>
          <p:nvPr/>
        </p:nvSpPr>
        <p:spPr>
          <a:xfrm>
            <a:off x="457200" y="4480560"/>
            <a:ext cx="55778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663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81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필요 전문가의 자동 호출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166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질문 입력만으로 오케스트레이터가 담당 에이전트를 호출, 타 영역이 필요하면 함께 호출해 협의</a:t>
            </a:r>
            <a:endParaRPr lang="en-US" sz="1400" dirty="0"/>
          </a:p>
        </p:txBody>
      </p:sp>
      <p:sp>
        <p:nvSpPr>
          <p:cNvPr id="19" name="보조카드05"/>
          <p:cNvSpPr/>
          <p:nvPr/>
        </p:nvSpPr>
        <p:spPr>
          <a:xfrm>
            <a:off x="6126480" y="4480560"/>
            <a:ext cx="55778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663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681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사람의 결정과 가정의 구분 공개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5166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범위·기회·컨셉 단계는 사람이 확인, 시뮬레이션 수치는 가정 기반임을 화면에 표기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영상 진행 순서</a:t>
            </a:r>
            <a:endParaRPr lang="en-US" sz="3200" dirty="0"/>
          </a:p>
        </p:txBody>
      </p:sp>
      <p:sp>
        <p:nvSpPr>
          <p:cNvPr id="3" name="단계1"/>
          <p:cNvSpPr/>
          <p:nvPr/>
        </p:nvSpPr>
        <p:spPr>
          <a:xfrm>
            <a:off x="457200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요청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입력·범위 확인</a:t>
            </a:r>
            <a:endParaRPr lang="en-US" sz="1400" dirty="0"/>
          </a:p>
        </p:txBody>
      </p:sp>
      <p:sp>
        <p:nvSpPr>
          <p:cNvPr id="7" name="단계2"/>
          <p:cNvSpPr/>
          <p:nvPr/>
        </p:nvSpPr>
        <p:spPr>
          <a:xfrm>
            <a:off x="2084832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2199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시장조사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동시 조사</a:t>
            </a:r>
            <a:endParaRPr lang="en-US" sz="1400" dirty="0"/>
          </a:p>
        </p:txBody>
      </p:sp>
      <p:sp>
        <p:nvSpPr>
          <p:cNvPr id="11" name="단계3"/>
          <p:cNvSpPr/>
          <p:nvPr/>
        </p:nvSpPr>
        <p:spPr>
          <a:xfrm>
            <a:off x="3712464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9624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849624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기회 선택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9624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3개 중 선택</a:t>
            </a:r>
            <a:endParaRPr lang="en-US" sz="1400" dirty="0"/>
          </a:p>
        </p:txBody>
      </p:sp>
      <p:sp>
        <p:nvSpPr>
          <p:cNvPr id="15" name="단계4"/>
          <p:cNvSpPr/>
          <p:nvPr/>
        </p:nvSpPr>
        <p:spPr>
          <a:xfrm>
            <a:off x="5340096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77256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77256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컨셉·검증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77256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평가·시장성</a:t>
            </a:r>
            <a:endParaRPr lang="en-US" sz="1400" dirty="0"/>
          </a:p>
        </p:txBody>
      </p:sp>
      <p:sp>
        <p:nvSpPr>
          <p:cNvPr id="19" name="단계5"/>
          <p:cNvSpPr/>
          <p:nvPr/>
        </p:nvSpPr>
        <p:spPr>
          <a:xfrm>
            <a:off x="6967728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0488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104888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협의·보완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에이전트 간 협의</a:t>
            </a:r>
            <a:endParaRPr lang="en-US" sz="1400" dirty="0"/>
          </a:p>
        </p:txBody>
      </p:sp>
      <p:sp>
        <p:nvSpPr>
          <p:cNvPr id="23" name="단계6"/>
          <p:cNvSpPr/>
          <p:nvPr/>
        </p:nvSpPr>
        <p:spPr>
          <a:xfrm>
            <a:off x="8595360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32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디자인·마케팅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시안·스토리보드</a:t>
            </a:r>
            <a:endParaRPr lang="en-US" sz="1400" dirty="0"/>
          </a:p>
        </p:txBody>
      </p:sp>
      <p:sp>
        <p:nvSpPr>
          <p:cNvPr id="27" name="단계7"/>
          <p:cNvSpPr/>
          <p:nvPr/>
        </p:nvSpPr>
        <p:spPr>
          <a:xfrm>
            <a:off x="10222992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6015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7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10360152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기획서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360152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통합 보고서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길이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34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본편 3분대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270248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진행 방식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270248" y="4434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저장된 실행 기록을 재생하는 데모 모드, 화면에 상시 표기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083296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자막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083296" y="4434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한국어 자막 상시 표시, 나레이션 없음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채움 표시 단계: 비중이 큰 장면. 영상 후반에 개별 활용 장면(질문 입력 → 담당 에이전트 호출 → 필요 시 타 전문가와 협의) 구성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신상품기획보고서 구성(가안)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입력: 6개 에이전트</a:t>
            </a:r>
            <a:endParaRPr lang="en-US" sz="1200" dirty="0"/>
          </a:p>
        </p:txBody>
      </p:sp>
      <p:sp>
        <p:nvSpPr>
          <p:cNvPr id="4" name="입력에이전트1"/>
          <p:cNvSpPr/>
          <p:nvPr/>
        </p:nvSpPr>
        <p:spPr>
          <a:xfrm>
            <a:off x="457200" y="1600200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55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시장조사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11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트렌드 · 경쟁사 · 소비자</a:t>
            </a:r>
            <a:endParaRPr lang="en-US" sz="1200" dirty="0"/>
          </a:p>
        </p:txBody>
      </p:sp>
      <p:sp>
        <p:nvSpPr>
          <p:cNvPr id="7" name="입력에이전트2"/>
          <p:cNvSpPr/>
          <p:nvPr/>
        </p:nvSpPr>
        <p:spPr>
          <a:xfrm>
            <a:off x="457200" y="2295144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50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시장기회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06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기회 셀 선정</a:t>
            </a:r>
            <a:endParaRPr lang="en-US" sz="1200" dirty="0"/>
          </a:p>
        </p:txBody>
      </p:sp>
      <p:sp>
        <p:nvSpPr>
          <p:cNvPr id="10" name="입력에이전트3"/>
          <p:cNvSpPr/>
          <p:nvPr/>
        </p:nvSpPr>
        <p:spPr>
          <a:xfrm>
            <a:off x="457200" y="2990088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44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컨셉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300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컨셉 3안 · 코드 평가</a:t>
            </a:r>
            <a:endParaRPr lang="en-US" sz="1200" dirty="0"/>
          </a:p>
        </p:txBody>
      </p:sp>
      <p:sp>
        <p:nvSpPr>
          <p:cNvPr id="13" name="입력에이전트4"/>
          <p:cNvSpPr/>
          <p:nvPr/>
        </p:nvSpPr>
        <p:spPr>
          <a:xfrm>
            <a:off x="457200" y="3685032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39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시장성 검증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995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가상 고객 시뮬레이션</a:t>
            </a:r>
            <a:endParaRPr lang="en-US" sz="1200" dirty="0"/>
          </a:p>
        </p:txBody>
      </p:sp>
      <p:sp>
        <p:nvSpPr>
          <p:cNvPr id="16" name="입력에이전트5"/>
          <p:cNvSpPr/>
          <p:nvPr/>
        </p:nvSpPr>
        <p:spPr>
          <a:xfrm>
            <a:off x="457200" y="4379976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9436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가드레일 (선택)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690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재무·준법 점검</a:t>
            </a:r>
            <a:endParaRPr lang="en-US" sz="1200" dirty="0"/>
          </a:p>
        </p:txBody>
      </p:sp>
      <p:sp>
        <p:nvSpPr>
          <p:cNvPr id="19" name="입력에이전트6"/>
          <p:cNvSpPr/>
          <p:nvPr/>
        </p:nvSpPr>
        <p:spPr>
          <a:xfrm>
            <a:off x="457200" y="5074920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5129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디자인·마케팅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385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이름 · 시안 · 스토리보드</a:t>
            </a:r>
            <a:endParaRPr lang="en-US" sz="1200" dirty="0"/>
          </a:p>
        </p:txBody>
      </p:sp>
      <p:sp>
        <p:nvSpPr>
          <p:cNvPr id="22" name="통합화살표"/>
          <p:cNvSpPr/>
          <p:nvPr/>
        </p:nvSpPr>
        <p:spPr>
          <a:xfrm>
            <a:off x="3611880" y="3200400"/>
            <a:ext cx="45720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616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통합</a:t>
            </a:r>
            <a:endParaRPr lang="en-US" sz="1200" dirty="0"/>
          </a:p>
        </p:txBody>
      </p:sp>
      <p:sp>
        <p:nvSpPr>
          <p:cNvPr id="24" name="보고서표지"/>
          <p:cNvSpPr/>
          <p:nvPr/>
        </p:nvSpPr>
        <p:spPr>
          <a:xfrm>
            <a:off x="4206240" y="1280160"/>
            <a:ext cx="7525512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NEW PRODUCT PLANNING REPORT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신상품기획보고서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제목·대표 이미지(카드 시안)·핵심 4요소를 최상단에 배치</a:t>
            </a:r>
            <a:endParaRPr lang="en-US" sz="1200" dirty="0"/>
          </a:p>
        </p:txBody>
      </p:sp>
      <p:sp>
        <p:nvSpPr>
          <p:cNvPr id="28" name="대표이미지1"/>
          <p:cNvSpPr/>
          <p:nvPr/>
        </p:nvSpPr>
        <p:spPr>
          <a:xfrm>
            <a:off x="9144000" y="1554480"/>
            <a:ext cx="731520" cy="960120"/>
          </a:xfrm>
          <a:prstGeom prst="roundRect">
            <a:avLst>
              <a:gd name="adj" fmla="val 10000"/>
            </a:avLst>
          </a:prstGeom>
          <a:solidFill>
            <a:srgbClr val="E9A92B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대표이미지2"/>
          <p:cNvSpPr/>
          <p:nvPr/>
        </p:nvSpPr>
        <p:spPr>
          <a:xfrm>
            <a:off x="10012680" y="1417320"/>
            <a:ext cx="822960" cy="1097280"/>
          </a:xfrm>
          <a:prstGeom prst="roundRect">
            <a:avLst>
              <a:gd name="adj" fmla="val 8889"/>
            </a:avLst>
          </a:prstGeom>
          <a:solidFill>
            <a:srgbClr val="2EC4A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대표이미지3"/>
          <p:cNvSpPr/>
          <p:nvPr/>
        </p:nvSpPr>
        <p:spPr>
          <a:xfrm>
            <a:off x="10927080" y="1554480"/>
            <a:ext cx="731520" cy="960120"/>
          </a:xfrm>
          <a:prstGeom prst="roundRect">
            <a:avLst>
              <a:gd name="adj" fmla="val 10000"/>
            </a:avLst>
          </a:prstGeom>
          <a:solidFill>
            <a:srgbClr val="4C63D2"/>
          </a:solidFill>
          <a:ln w="12700">
            <a:solidFill>
              <a:schemeClr val="bg1"/>
            </a:solidFill>
            <a:prstDash val="solid"/>
          </a:ln>
        </p:spPr>
      </p:sp>
      <p:graphicFrame>
        <p:nvGraphicFramePr>
          <p:cNvPr id="5" name="보고서구성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834640"/>
          <a:ext cx="75255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34107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섹션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입력 에이전트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주요 내용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00 핵심 요약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전체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컨셉·주요 혜택·타깃 세그먼트·차별점 중심 요약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01 시장과 기회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시장조사, 시장기회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트렌드·경쟁 구도·소비자 니즈, 기회 선택 근거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02 상품 컨셉·포지셔닝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컨셉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혜택 구조, 후보 비교, 포지셔닝 맵(경쟁사·자사 라인업)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03 시장성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시장성 검증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채택 의향·손익·시나리오(가정 기반)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04 브랜드·디자인·마케팅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디자인·마케팅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이름, 카드 시안 3안, 마케팅 방향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05 리스크·확인 사항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가드레일(선택), 전체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점검 결과, 미검증 항목, 추가 조사 주제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06 의사결정 요청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전체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컨셉 확정, 법무 확인 배정, 영상 제작 여부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부록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전체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에이전트별 원자료, 근거 출처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에이전트별 결과의 순차 나열이 아닌 주제별 통합 구성, 원자료는 부록에 수록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시나리오 안 비교 (택일)</a:t>
            </a:r>
            <a:endParaRPr lang="en-US" sz="3200" dirty="0"/>
          </a:p>
        </p:txBody>
      </p:sp>
      <p:graphicFrame>
        <p:nvGraphicFramePr>
          <p:cNvPr id="6" name="안비교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6908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안 A: 2030 투자입문자 신용카드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안 B: GenZ 특화 신용카드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입력 요청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“2030 투자 입문자를 위한 새로운 신용카드를 기획해줘”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“GenZ 특화 신용카드 만들어줘”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카드 성격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투자 연계 카드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일반 소비 카드 (투자 연계 제외)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강조 장면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협의를 통한 카드 이름 변경, 경쟁사 모방 시 시장성 변화 비교, 개별 활용 시 타 전문가 협의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쟁점 교환을 통한 컨셉 재설계, 근거 부족 시 타 에이전트 재조사 요청, 카드 시안 이미지, 개별 활용 시 타 전문가 협의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화면 근거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저장된 실행 기록 재생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2026-10-20 실제 실행 기록 재생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유의 사항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투자 연계 표현은 법무 확인 필요, 투자 권유로 읽히지 않도록 표기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투자 규제와 무관해 외부 공유 부담이 낮은 편, 장면 구성은 초안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두 안 모두 동일한 에이전트 팀이 동일한 순서로 수행하는 모습을 제시, 영상에는 1개 안만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영상 내 명시 사항</a:t>
            </a:r>
            <a:endParaRPr lang="en-US" sz="3200" dirty="0"/>
          </a:p>
        </p:txBody>
      </p:sp>
      <p:sp>
        <p:nvSpPr>
          <p:cNvPr id="3" name="표기카드1"/>
          <p:cNvSpPr/>
          <p:nvPr/>
        </p:nvSpPr>
        <p:spPr>
          <a:xfrm>
            <a:off x="457200" y="137160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데모 모드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저장된 실행을 재생한 화면에 ‘데모 모드’ 표기 상시 유지</a:t>
            </a:r>
            <a:endParaRPr lang="en-US" sz="1500" dirty="0"/>
          </a:p>
        </p:txBody>
      </p:sp>
      <p:sp>
        <p:nvSpPr>
          <p:cNvPr id="8" name="표기카드2"/>
          <p:cNvSpPr/>
          <p:nvPr/>
        </p:nvSpPr>
        <p:spPr>
          <a:xfrm>
            <a:off x="6126480" y="137160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가정 기반 수치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채택 의향 등 수치에 ‘가상 고객 시뮬레이션(가정 기반) · 실제 전환율 아님’ 병기</a:t>
            </a:r>
            <a:endParaRPr lang="en-US" sz="1500" dirty="0"/>
          </a:p>
        </p:txBody>
      </p:sp>
      <p:sp>
        <p:nvSpPr>
          <p:cNvPr id="13" name="표기카드3"/>
          <p:cNvSpPr/>
          <p:nvPr/>
        </p:nvSpPr>
        <p:spPr>
          <a:xfrm>
            <a:off x="457200" y="384048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선택 기능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가드레일은 필요 시 추가하는 선택 기능이며 법률 판단이 아닌 사전 점검. 사람 확인 필요 항목은 담당 부서와 함께 기록</a:t>
            </a:r>
            <a:endParaRPr lang="en-US" sz="1500" dirty="0"/>
          </a:p>
        </p:txBody>
      </p:sp>
      <p:sp>
        <p:nvSpPr>
          <p:cNvPr id="18" name="표기카드4"/>
          <p:cNvSpPr/>
          <p:nvPr/>
        </p:nvSpPr>
        <p:spPr>
          <a:xfrm>
            <a:off x="6126480" y="384048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실제와 가정의 구분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마지막 장면에서 AI 생성분·코드 계산분·가정치를 1장으로 구분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안 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2030 투자입문자 신용카드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요청 입력, 시장조사, 컨셉·검증과 에이전트 간 협의, 디자인·마케팅, 통합 보고서까지 8개 장면에 개별 활용 2개 장면과 클로징을 더해 11개 장면으로 구성. 화면은 실제 화면 캡처(장면 2~9)와 와이어프레임(그 외)</a:t>
            </a:r>
            <a:endParaRPr lang="en-US" sz="1600" dirty="0"/>
          </a:p>
        </p:txBody>
      </p:sp>
      <p:sp>
        <p:nvSpPr>
          <p:cNvPr id="4" name="흐름칩01"/>
          <p:cNvSpPr/>
          <p:nvPr/>
        </p:nvSpPr>
        <p:spPr>
          <a:xfrm>
            <a:off x="731520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오프닝</a:t>
            </a:r>
            <a:endParaRPr lang="en-US" sz="1400" dirty="0"/>
          </a:p>
        </p:txBody>
      </p:sp>
      <p:sp>
        <p:nvSpPr>
          <p:cNvPr id="7" name="흐름칩02"/>
          <p:cNvSpPr/>
          <p:nvPr/>
        </p:nvSpPr>
        <p:spPr>
          <a:xfrm>
            <a:off x="2542032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요청과 범위 확인</a:t>
            </a:r>
            <a:endParaRPr lang="en-US" sz="1400" dirty="0"/>
          </a:p>
        </p:txBody>
      </p:sp>
      <p:sp>
        <p:nvSpPr>
          <p:cNvPr id="10" name="흐름칩03"/>
          <p:cNvSpPr/>
          <p:nvPr/>
        </p:nvSpPr>
        <p:spPr>
          <a:xfrm>
            <a:off x="4352544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동시 시장조사</a:t>
            </a:r>
            <a:endParaRPr lang="en-US" sz="1400" dirty="0"/>
          </a:p>
        </p:txBody>
      </p:sp>
      <p:sp>
        <p:nvSpPr>
          <p:cNvPr id="13" name="흐름칩04"/>
          <p:cNvSpPr/>
          <p:nvPr/>
        </p:nvSpPr>
        <p:spPr>
          <a:xfrm>
            <a:off x="6163056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0216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기회 선택</a:t>
            </a:r>
            <a:endParaRPr lang="en-US" sz="1400" dirty="0"/>
          </a:p>
        </p:txBody>
      </p:sp>
      <p:sp>
        <p:nvSpPr>
          <p:cNvPr id="16" name="흐름칩05"/>
          <p:cNvSpPr/>
          <p:nvPr/>
        </p:nvSpPr>
        <p:spPr>
          <a:xfrm>
            <a:off x="7973568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10728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컨셉·시장성 검증</a:t>
            </a:r>
            <a:endParaRPr lang="en-US" sz="1400" dirty="0"/>
          </a:p>
        </p:txBody>
      </p:sp>
      <p:sp>
        <p:nvSpPr>
          <p:cNvPr id="19" name="흐름칩06"/>
          <p:cNvSpPr/>
          <p:nvPr/>
        </p:nvSpPr>
        <p:spPr>
          <a:xfrm>
            <a:off x="9784080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2124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893808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에이전트 간 협의</a:t>
            </a:r>
            <a:endParaRPr lang="en-US" sz="1400" dirty="0"/>
          </a:p>
        </p:txBody>
      </p:sp>
      <p:sp>
        <p:nvSpPr>
          <p:cNvPr id="22" name="흐름칩07"/>
          <p:cNvSpPr/>
          <p:nvPr/>
        </p:nvSpPr>
        <p:spPr>
          <a:xfrm>
            <a:off x="731520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디자인·마케팅</a:t>
            </a:r>
            <a:endParaRPr lang="en-US" sz="1400" dirty="0"/>
          </a:p>
        </p:txBody>
      </p:sp>
      <p:sp>
        <p:nvSpPr>
          <p:cNvPr id="25" name="흐름칩08"/>
          <p:cNvSpPr/>
          <p:nvPr/>
        </p:nvSpPr>
        <p:spPr>
          <a:xfrm>
            <a:off x="2542032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79192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신상품기획보고서</a:t>
            </a:r>
            <a:endParaRPr lang="en-US" sz="1400" dirty="0"/>
          </a:p>
        </p:txBody>
      </p:sp>
      <p:sp>
        <p:nvSpPr>
          <p:cNvPr id="28" name="흐름칩09"/>
          <p:cNvSpPr/>
          <p:nvPr/>
        </p:nvSpPr>
        <p:spPr>
          <a:xfrm>
            <a:off x="4352544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89704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462272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개별 활용: 담당 호출</a:t>
            </a:r>
            <a:endParaRPr lang="en-US" sz="1400" dirty="0"/>
          </a:p>
        </p:txBody>
      </p:sp>
      <p:sp>
        <p:nvSpPr>
          <p:cNvPr id="31" name="흐름칩10"/>
          <p:cNvSpPr/>
          <p:nvPr/>
        </p:nvSpPr>
        <p:spPr>
          <a:xfrm>
            <a:off x="6163056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00216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#10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72784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개별 활용: 협의</a:t>
            </a:r>
            <a:endParaRPr lang="en-US" sz="1400" dirty="0"/>
          </a:p>
        </p:txBody>
      </p:sp>
      <p:sp>
        <p:nvSpPr>
          <p:cNvPr id="34" name="흐름칩11"/>
          <p:cNvSpPr/>
          <p:nvPr/>
        </p:nvSpPr>
        <p:spPr>
          <a:xfrm>
            <a:off x="7973568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10728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#11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083296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클로징: 실제와 가정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채움 표시 장면: 핵심 장면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오프닝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1 / 11</a:t>
            </a:r>
            <a:endParaRPr lang="en-US" sz="1200" dirty="0"/>
          </a:p>
        </p:txBody>
      </p:sp>
      <p:pic>
        <p:nvPicPr>
          <p:cNvPr id="7" name="화면이미지(교체)" descr="장면 01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카드 상품기획 전 과정을 에이전트 팀이 분담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기획 단계가 순서대로 나타나 하나의 흐름으로 연결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시장조사 · 경쟁 분석 · 컨셉 · 검증 · 디자인 · 기획서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카드 신상품 기획은 다수 부서가 장기간 협업해야 하는 업무. AI 에이전트 팀이 역할을 나누고 서로 협의하며 수행하는 방식을 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요청 입력과 범위 확인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2 / 11</a:t>
            </a:r>
            <a:endParaRPr lang="en-US" sz="1200" dirty="0"/>
          </a:p>
        </p:txBody>
      </p:sp>
      <p:pic>
        <p:nvPicPr>
          <p:cNvPr id="7" name="화면이미지(교체)" descr="장면 02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요청 한 줄 입력 → AI의 범위 해석 → 사람 확인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담당자가 요청을 한 줄로 입력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AI가 타깃·카드 유형을 해석해 제시, 사람이 확인 후 진행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요청은 한 줄 입력으로 시작. 타깃·카드 유형·가정 등 AI의 해석 내용을 사람이 먼저 확인하며, 모든 내용은 기록으로 보관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시장조사: 에이전트 동시 실행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3 / 11</a:t>
            </a:r>
            <a:endParaRPr lang="en-US" sz="1200" dirty="0"/>
          </a:p>
        </p:txBody>
      </p:sp>
      <p:pic>
        <p:nvPicPr>
          <p:cNvPr id="7" name="화면이미지(교체)" descr="장면 03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3개 에이전트 동시 조사, 근거와 출처를 붙여 종합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트렌드 · 경쟁사 · 소비자 에이전트가 동시에 조사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결과별 출처·발행일·신뢰도 표기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상충하는 결과는 통합하지 않고 병기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시장조사 총괄 에이전트가 3개 에이전트를 동시에 호출하고 근거별 출처와 신뢰도를 붙여 종합. 상충하는 결과는 하나로 합치지 않고 나란히 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04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기회 선택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4 / 11</a:t>
            </a:r>
            <a:endParaRPr lang="en-US" sz="1200" dirty="0"/>
          </a:p>
        </p:txBody>
      </p:sp>
      <p:pic>
        <p:nvPicPr>
          <p:cNvPr id="7" name="화면이미지(교체)" descr="장면 04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점수는 코드가 계산, 선택은 사람이 결정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점수 순 기회 3개를 위험 요인과 함께 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사람이 1순위 선택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기회 점수는 코드가 계산하고 AI가 근거와 위험 요인을 보강해 3개를 압축. 최종 선택은 사람이 결정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05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컨셉 3안과 시장성 검증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5 / 11</a:t>
            </a:r>
            <a:endParaRPr lang="en-US" sz="1200" dirty="0"/>
          </a:p>
        </p:txBody>
      </p:sp>
      <p:pic>
        <p:nvPicPr>
          <p:cNvPr id="7" name="화면이미지(교체)" descr="장면 05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가상 고객 시뮬레이션(가정 기반) · 실제 전환율 아님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서로 다른 컨셉 3안을 코드로 평가해 승자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가상 고객 시뮬레이션으로 시장성 비교(경쟁사 모방, 혜택 축소 등)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컨셉 3안의 손익·경쟁 카드 유사도는 코드가 계산. 가상 고객 시뮬레이션으로 시장성을 확인하고 경쟁사 모방 시 변화까지 비교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06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에이전트 간 협의를 통한 컨셉 보완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6 / 11</a:t>
            </a:r>
            <a:endParaRPr lang="en-US" sz="1200" dirty="0"/>
          </a:p>
        </p:txBody>
      </p:sp>
      <p:pic>
        <p:nvPicPr>
          <p:cNvPr id="7" name="화면이미지(교체)" descr="장면 06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에이전트 간 협의로 컨셉 보완, 가드레일은 필요 시에만 참여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컨셉 에이전트와 시장성 검증 에이전트가 결과를 상호 전달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쟁점: 이름이 실제 구조보다 강한 인상을 줌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필요 시 가드레일(선택)이 재무·준법 의견 추가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협의 결과로 이름 변경, 변경 이력 기록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컨셉·검증 에이전트가 결과를 주고받으며 쟁점을 도출. 필요 시 가드레일 에이전트가 재무·준법 의견을 추가하며, 협의 결과로 ‘같이굴려요’가 ‘함께쌓기’로 변경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07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디자인·마케팅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7 / 11</a:t>
            </a:r>
            <a:endParaRPr lang="en-US" sz="1200" dirty="0"/>
          </a:p>
        </p:txBody>
      </p:sp>
      <p:pic>
        <p:nvPicPr>
          <p:cNvPr id="7" name="화면이미지(교체)" descr="장면 07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이름·시안 3안·영상 스토리보드 작성, 사람이 확정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이름 후보와 카드 시안 3안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홍보 영상 스토리보드 미리보기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사람 확정 후 다음 단계 진행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디자인·마케팅 에이전트가 이름 후보, 카드 시안, 홍보 영상 스토리보드를 작성. 혜택 수치 변경·금칙어 사용은 자동 검수에서 차단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08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신상품기획보고서 통합 작성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8 / 11</a:t>
            </a:r>
            <a:endParaRPr lang="en-US" sz="1200" dirty="0"/>
          </a:p>
        </p:txBody>
      </p:sp>
      <p:pic>
        <p:nvPicPr>
          <p:cNvPr id="7" name="화면이미지(교체)" descr="장면 08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6개 에이전트 결과를 하나의 신상품기획보고서로 통합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채팅에서 “최종 요약해서 보고서로 만들어줘” 요청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6개 에이전트 결과를 주제별로 통합한 보고서가 오른쪽에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대표 카드 이미지를 상단 제목과 함께 배치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문장별 근거 출처 확인 가능, 부록에 원자료 수록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시장조사·시장기회·컨셉·시장성·가드레일·디자인 결과를 에이전트별 나열이 아닌 주제별 보고서로 통합. 핵심 요약, 의사결정 요청, 확인 필요 사항을 한 문서에 정리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09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개별 활용: 담당 에이전트 호출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9 / 11</a:t>
            </a:r>
            <a:endParaRPr lang="en-US" sz="1200" dirty="0"/>
          </a:p>
        </p:txBody>
      </p:sp>
      <p:pic>
        <p:nvPicPr>
          <p:cNvPr id="7" name="화면이미지(교체)" descr="장면 09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질문 분석 후 맞는 전문 에이전트를 오케스트레이터가 호출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질문: “시판 카드 34종 중 어디가 붐비고 어디가 비어 있는지 알려줘”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오케스트레이터가 입력을 분석해 경쟁사 에이전트 호출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 에이전트가 집계와 해석 제공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 단독 활용 시 질문을 그대로 입력. 오케스트레이터가 입력을 분석해 해당 역할의 전문 에이전트를 호출하고, 경쟁사 에이전트가 시장 공백을 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개별 활용: 타 전문가와 협의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10 / 11</a:t>
            </a:r>
            <a:endParaRPr lang="en-US" sz="1200" dirty="0"/>
          </a:p>
        </p:txBody>
      </p:sp>
      <p:pic>
        <p:nvPicPr>
          <p:cNvPr id="7" name="화면이미지(교체)" descr="장면 10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필요 시 타 전문가 에이전트를 함께 호출해 의견 종합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 결과만으로 타깃 니즈 판단은 한계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오케스트레이터가 소비자·트렌드 에이전트를 함께 호출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3개 에이전트가 의견을 교환해 종합 의견 정리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최종 판단은 사람이 수행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타 영역 전문성이 필요하면 오케스트레이터가 다른 에이전트를 함께 호출. 3개 에이전트가 의견을 모아 쟁점과 근거를 정리하고, 최종 의사결정은 사람을 지원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클로징: 실제와 가정의 구분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11 / 11</a:t>
            </a:r>
            <a:endParaRPr lang="en-US" sz="1200" dirty="0"/>
          </a:p>
        </p:txBody>
      </p:sp>
      <p:pic>
        <p:nvPicPr>
          <p:cNvPr id="7" name="화면이미지(교체)" descr="장면 11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 생성 · 코드 계산 · 가정을 한 장으로 구분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생성분 / 코드 계산분 / 가정·확인 필요 사항을 3개 열로 정리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다음 단계 안내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결과를 AI 생성분, 코드 계산분, 가정으로 구분해 공개. 고객사 데이터 수령 시 가정치를 교체해 실제 입력 기반으로 재시연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안 B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GenZ 특화 신용카드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투자와 무관한 일반 소비 카드에서도 동일한 에이전트 팀이 협의하며 수행하는 과정을 개별 활용 2개 장면 포함 10개 장면으로 구성. 화면은 실제 화면 캡처(장면 1~8)와 와이어프레임(장면 9~10). 장면 구성은 초안</a:t>
            </a:r>
            <a:endParaRPr lang="en-US" sz="1600" dirty="0"/>
          </a:p>
        </p:txBody>
      </p:sp>
      <p:sp>
        <p:nvSpPr>
          <p:cNvPr id="4" name="흐름칩01"/>
          <p:cNvSpPr/>
          <p:nvPr/>
        </p:nvSpPr>
        <p:spPr>
          <a:xfrm>
            <a:off x="731520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요청과 범위 확인</a:t>
            </a:r>
            <a:endParaRPr lang="en-US" sz="1400" dirty="0"/>
          </a:p>
        </p:txBody>
      </p:sp>
      <p:sp>
        <p:nvSpPr>
          <p:cNvPr id="7" name="흐름칩02"/>
          <p:cNvSpPr/>
          <p:nvPr/>
        </p:nvSpPr>
        <p:spPr>
          <a:xfrm>
            <a:off x="2904134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41294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3862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시장조사와 종합</a:t>
            </a:r>
            <a:endParaRPr lang="en-US" sz="1400" dirty="0"/>
          </a:p>
        </p:txBody>
      </p:sp>
      <p:sp>
        <p:nvSpPr>
          <p:cNvPr id="10" name="흐름칩03"/>
          <p:cNvSpPr/>
          <p:nvPr/>
        </p:nvSpPr>
        <p:spPr>
          <a:xfrm>
            <a:off x="5076749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3909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86477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기회 선택</a:t>
            </a:r>
            <a:endParaRPr lang="en-US" sz="1400" dirty="0"/>
          </a:p>
        </p:txBody>
      </p:sp>
      <p:sp>
        <p:nvSpPr>
          <p:cNvPr id="13" name="흐름칩04"/>
          <p:cNvSpPr/>
          <p:nvPr/>
        </p:nvSpPr>
        <p:spPr>
          <a:xfrm>
            <a:off x="7249363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86523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59091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컨셉 3안과 평가</a:t>
            </a:r>
            <a:endParaRPr lang="en-US" sz="1400" dirty="0"/>
          </a:p>
        </p:txBody>
      </p:sp>
      <p:sp>
        <p:nvSpPr>
          <p:cNvPr id="16" name="흐름칩05"/>
          <p:cNvSpPr/>
          <p:nvPr/>
        </p:nvSpPr>
        <p:spPr>
          <a:xfrm>
            <a:off x="9421978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9138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31706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에이전트 간 협의</a:t>
            </a:r>
            <a:endParaRPr lang="en-US" sz="1400" dirty="0"/>
          </a:p>
        </p:txBody>
      </p:sp>
      <p:sp>
        <p:nvSpPr>
          <p:cNvPr id="19" name="흐름칩06"/>
          <p:cNvSpPr/>
          <p:nvPr/>
        </p:nvSpPr>
        <p:spPr>
          <a:xfrm>
            <a:off x="731520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협의 결과</a:t>
            </a:r>
            <a:endParaRPr lang="en-US" sz="1400" dirty="0"/>
          </a:p>
        </p:txBody>
      </p:sp>
      <p:sp>
        <p:nvSpPr>
          <p:cNvPr id="22" name="흐름칩07"/>
          <p:cNvSpPr/>
          <p:nvPr/>
        </p:nvSpPr>
        <p:spPr>
          <a:xfrm>
            <a:off x="2904134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41294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013862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디자인·마케팅과 재조사</a:t>
            </a:r>
            <a:endParaRPr lang="en-US" sz="1400" dirty="0"/>
          </a:p>
        </p:txBody>
      </p:sp>
      <p:sp>
        <p:nvSpPr>
          <p:cNvPr id="25" name="흐름칩08"/>
          <p:cNvSpPr/>
          <p:nvPr/>
        </p:nvSpPr>
        <p:spPr>
          <a:xfrm>
            <a:off x="5076749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3909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86477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신상품기획보고서</a:t>
            </a:r>
            <a:endParaRPr lang="en-US" sz="1400" dirty="0"/>
          </a:p>
        </p:txBody>
      </p:sp>
      <p:sp>
        <p:nvSpPr>
          <p:cNvPr id="28" name="흐름칩09"/>
          <p:cNvSpPr/>
          <p:nvPr/>
        </p:nvSpPr>
        <p:spPr>
          <a:xfrm>
            <a:off x="7249363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86523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59091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개별 활용: 담당 호출</a:t>
            </a:r>
            <a:endParaRPr lang="en-US" sz="1400" dirty="0"/>
          </a:p>
        </p:txBody>
      </p:sp>
      <p:sp>
        <p:nvSpPr>
          <p:cNvPr id="31" name="흐름칩10"/>
          <p:cNvSpPr/>
          <p:nvPr/>
        </p:nvSpPr>
        <p:spPr>
          <a:xfrm>
            <a:off x="9421978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59138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#10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531706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개별 활용: 협의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채움 표시 장면: 핵심 장면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요청 입력과 범위 확인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1 / 10</a:t>
            </a:r>
            <a:endParaRPr lang="en-US" sz="1200" dirty="0"/>
          </a:p>
        </p:txBody>
      </p:sp>
      <p:pic>
        <p:nvPicPr>
          <p:cNvPr id="7" name="화면이미지(교체)" descr="장면 01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GenZ를 만 19~29세로 해석, 사람이 범위 확인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요청 입력: “GenZ 특화 신용카드 만들어줘”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AI가 GenZ를 만 19~29세, 신용카드, 투자 연계 제외로 해석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사람이 범위와 가정 확인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요청은 한 줄 입력. AI가 GenZ를 신용카드 발급이 가능한 만 19~29세로 해석하고 투자 연계는 범위에서 제외, 해석 내용은 사람이 먼저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시장조사와 종합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2 / 10</a:t>
            </a:r>
            <a:endParaRPr lang="en-US" sz="1200" dirty="0"/>
          </a:p>
        </p:txBody>
      </p:sp>
      <p:pic>
        <p:nvPicPr>
          <p:cNvPr id="7" name="화면이미지(교체)" descr="장면 02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에이전트 조사 결과 종합, 상충 근거는 병기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트렌드·경쟁사 에이전트 동시 조사 후 소비자 에이전트 연계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근거 출처 11건, 상충 근거 3건 병기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결론: 공백 혜택과 디지털·절약 니즈는 부합, 혜택 불신이 발급 동기를 약화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3개 에이전트가 조사하고 총괄 에이전트가 종합. 상충하는 근거 3건은 하나로 합치지 않고 그대로 병기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기회 선택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3 / 10</a:t>
            </a:r>
            <a:endParaRPr lang="en-US" sz="1200" dirty="0"/>
          </a:p>
        </p:txBody>
      </p:sp>
      <p:pic>
        <p:nvPicPr>
          <p:cNvPr id="7" name="화면이미지(교체)" descr="장면 03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점수·현실성은 코드가 점검, 선택은 사람이 결정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‘GenZ × 구독·디지털’ 등 기회를 점수 순으로 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기회별 시장 천장(도달 가능 규모)을 코드가 우선 점검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사람이 1순위 선택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기회 점수와 시장 천장은 코드가 계산하고 최종 선택은 사람이 결정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04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컨셉 3안과 평가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4 / 10</a:t>
            </a:r>
            <a:endParaRPr lang="en-US" sz="1200" dirty="0"/>
          </a:p>
        </p:txBody>
      </p:sp>
      <p:pic>
        <p:nvPicPr>
          <p:cNvPr id="7" name="화면이미지(교체)" descr="장면 04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가상 고객 시뮬레이션(가정 기반) · 실제 전환율 아님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서로 다른 컨셉 3안을 코드로 평가(손익·유사도·복잡도)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기준 미달 1안 탈락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승자 안의 가상 고객 시뮬레이션 결과 표시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컨셉 에이전트가 3안을 제시하고 코드가 손익·경쟁 카드 유사도·복잡도를 계산해 1안을 탈락 처리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05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에이전트 간 협의를 통한 컨셉 재설계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5 / 10</a:t>
            </a:r>
            <a:endParaRPr lang="en-US" sz="1200" dirty="0"/>
          </a:p>
        </p:txBody>
      </p:sp>
      <p:pic>
        <p:nvPicPr>
          <p:cNvPr id="7" name="화면이미지(교체)" descr="장면 05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에이전트 간 쟁점 교환을 거쳐 컨셉 재설계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컨셉·검증 에이전트가 결과를 교환하며 쟁점 3건 정리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이름이 AI 개인화처럼 읽힘, 문구 오인 소지, 체리피킹 비중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필요 시 가드레일(선택)이 의견 추가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컨셉 에이전트가 쟁점을 반영해 재설계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컨셉·검증 에이전트가 쟁점을 교환. ‘알아서 맞춤’ 이름의 AI 개인화 오인, 체리피킹 비중 등을 정리하고 필요 시 가드레일 에이전트가 의견을 추가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06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협의 결과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6 / 10</a:t>
            </a:r>
            <a:endParaRPr lang="en-US" sz="1200" dirty="0"/>
          </a:p>
        </p:txBody>
      </p:sp>
      <p:pic>
        <p:nvPicPr>
          <p:cNvPr id="7" name="화면이미지(교체)" descr="장면 06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협의 결과가 이름·규칙에 반영, 미해결 항목은 공개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이름과 혜택 판정 규칙의 변경 전후 비교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미해결 항목은 담당 부서 확인 필요로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변경 이력은 보고서 부록에 기록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협의 결과 이름은 ‘많이 쓴 영역 캐시백 카드’, 1위 영역 판정은 직전 3개월 합계, 환급은 연 1회로 변경. 미해결 항목은 숨기지 않고 담당 부서 확인 사항으로 유지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07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디자인·마케팅과 근거 재조사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7 / 10</a:t>
            </a:r>
            <a:endParaRPr lang="en-US" sz="1200" dirty="0"/>
          </a:p>
        </p:txBody>
      </p:sp>
      <p:pic>
        <p:nvPicPr>
          <p:cNvPr id="7" name="화면이미지(교체)" descr="장면 07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근거 부족 시 타 에이전트에 재조사 요청, 없는 근거는 공개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이름 ‘세칸’, 카드 시안 3안, 영상 스토리보드 3종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근거 부족 3개 주제를 트렌드 에이전트에 재조사 요청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확인되지 않은 수치는 “근거 없음”으로 표시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디자인·마케팅 에이전트가 이름·시안·스토리보드를 작성하는 중 근거 부족 3개 주제를 트렌드 에이전트에 재조사 요청. 약한 근거는 그대로 표기하고 미확인 수치는 근거 없음으로 처리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08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신상품기획보고서 통합 작성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8 / 10</a:t>
            </a:r>
            <a:endParaRPr lang="en-US" sz="1200" dirty="0"/>
          </a:p>
        </p:txBody>
      </p:sp>
      <p:pic>
        <p:nvPicPr>
          <p:cNvPr id="7" name="화면이미지(교체)" descr="장면 08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캡처태그"/>
          <p:cNvSpPr/>
          <p:nvPr/>
        </p:nvSpPr>
        <p:spPr>
          <a:xfrm>
            <a:off x="594360" y="1554480"/>
            <a:ext cx="160020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6개 에이전트 결과를 하나의 신상품기획보고서로 통합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채팅에서 “최종 요약해서 보고서로 만들어줘” 요청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6개 에이전트 결과를 주제별로 통합한 보고서가 오른쪽에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대표 카드 이미지(세칸 3안)를 상단 제목과 함께 배치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결정 요청·추가 조사 주제를 한곳에 정리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에이전트별 결과를 순서대로 나열하지 않고 핵심 요약 → 시장과 기회 → 상품 컨셉 → 시장성 → 브랜드·디자인 → 리스크 → 의사결정 요청 순으로 통합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안 B 카드 시안: 디자인·마케팅 에이전트 산출물</a:t>
            </a:r>
            <a:endParaRPr lang="en-US" sz="3200" dirty="0"/>
          </a:p>
        </p:txBody>
      </p:sp>
      <p:pic>
        <p:nvPicPr>
          <p:cNvPr id="3" name="카드시안이미지" descr="세칸 카드 시안 3종(NOON, CLEAR, NIGH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68096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시안 구성</a:t>
            </a:r>
            <a:endParaRPr lang="en-US" sz="1200" dirty="0"/>
          </a:p>
        </p:txBody>
      </p:sp>
      <p:sp>
        <p:nvSpPr>
          <p:cNvPr id="5" name="시안설명"/>
          <p:cNvSpPr txBox="1"/>
          <p:nvPr/>
        </p:nvSpPr>
        <p:spPr>
          <a:xfrm>
            <a:off x="8412480" y="1691640"/>
            <a:ext cx="33192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‘세칸’ 세로형 카드 3종: NOON(무광 아이보리), CLEAR(투명 폴리카보네이트), NIGHT(새벽남색 무광)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공통: 세 칸을 은유한 로고 심볼(1칸 라임 포인트), 칩·비접촉 마크, 앞면 혜택 수치·카드 번호 미표기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소재·마감: 엠보싱·금박·미세 인쇄(NOON) / 투명 몸체 위 불투명 인쇄 레이어(CLEAR) / 라임 박 로고(NIGHT)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발급사·네트워크는 자리표시([ISSUER], NETWORK)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486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시안은 보고서 상단 대표 이미지와 시안 비교 섹션에 동일하게 활용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안 B 카드 시안 뒷면: 판정 규칙·보안 정보 배치</a:t>
            </a:r>
            <a:endParaRPr lang="en-US" sz="3200" dirty="0"/>
          </a:p>
        </p:txBody>
      </p:sp>
      <p:pic>
        <p:nvPicPr>
          <p:cNvPr id="3" name="카드뒷면이미지" descr="세칸 카드 시안 3종 뒷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68096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뒷면 구성</a:t>
            </a:r>
            <a:endParaRPr lang="en-US" sz="1200" dirty="0"/>
          </a:p>
        </p:txBody>
      </p:sp>
      <p:sp>
        <p:nvSpPr>
          <p:cNvPr id="5" name="뒷면설명"/>
          <p:cNvSpPr txBox="1"/>
          <p:nvPr/>
        </p:nvSpPr>
        <p:spPr>
          <a:xfrm>
            <a:off x="8412480" y="1691640"/>
            <a:ext cx="33192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상단: 카드 번호·유효기간·CVC·소지자명 자리표시(실번호 미사용)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중앙: 서명란, 판정 규칙 한 줄(“직전 3개월 이용액 합계 1위 영역 자동 배정”), 비율 수치 미표기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하단: 분실·도난 안내, 고객센터 자리표시, 네트워크 자리표시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혜택 비율·조건은 뒷면 문구와 앱에서만 안내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안 B 보고서 주요 화면: 핵심 요약과 포지셔닝 맵</a:t>
            </a:r>
            <a:endParaRPr lang="en-US" sz="3200" dirty="0"/>
          </a:p>
        </p:txBody>
      </p:sp>
      <p:pic>
        <p:nvPicPr>
          <p:cNvPr id="3" name="핵심요약이미지" descr="핵심 요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577840" cy="28072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371600"/>
            <a:ext cx="5577840" cy="280720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1600200" cy="27432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pic>
        <p:nvPicPr>
          <p:cNvPr id="7" name="포지셔닝맵이미지" descr="포지셔닝 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577840" cy="2807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26480" y="1371600"/>
            <a:ext cx="5577840" cy="280720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17920" y="1463040"/>
            <a:ext cx="1600200" cy="27432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17920" y="1463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화면 캡처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요약 (보고서 최상단)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포지셔닝 맵</a:t>
            </a:r>
            <a:endParaRPr lang="en-US" sz="1200" dirty="0"/>
          </a:p>
        </p:txBody>
      </p:sp>
      <p:sp>
        <p:nvSpPr>
          <p:cNvPr id="13" name="핵심요약설명"/>
          <p:cNvSpPr txBox="1"/>
          <p:nvPr/>
        </p:nvSpPr>
        <p:spPr>
          <a:xfrm>
            <a:off x="457200" y="47091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컨셉, 주요 혜택, 타깃 세그먼트, 차별점을 4개 블록으로 배치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KPI(채택 의향·손익)와 구분별 요약표 병기</a:t>
            </a:r>
            <a:endParaRPr lang="en-US" sz="1400" dirty="0"/>
          </a:p>
        </p:txBody>
      </p:sp>
      <p:sp>
        <p:nvSpPr>
          <p:cNvPr id="14" name="포지셔닝설명"/>
          <p:cNvSpPr txBox="1"/>
          <p:nvPr/>
        </p:nvSpPr>
        <p:spPr>
          <a:xfrm>
            <a:off x="6126480" y="47091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경쟁사와 자사 카드 라인업 사이의 신상품 위치 표시, 자사 카드별 타깃 중복도 표 병기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자사 라인업·좌표는 가상 데이터(고객사 카드 DB 연동 후 실제 값 반영)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09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개별 활용: 담당 에이전트 호출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9 / 10</a:t>
            </a:r>
            <a:endParaRPr lang="en-US" sz="1200" dirty="0"/>
          </a:p>
        </p:txBody>
      </p:sp>
      <p:pic>
        <p:nvPicPr>
          <p:cNvPr id="7" name="화면이미지(교체)" descr="장면 09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질문 분석 후 맞는 전문 에이전트를 오케스트레이터가 호출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질문: “GenZ 카드 혜택 중 경쟁사가 비어 있는 곳이 어디야?”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오케스트레이터가 입력을 분석해 경쟁사 에이전트 호출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 에이전트가 집계와 해석 제공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 단독 활용 시 질문을 그대로 입력. 오케스트레이터가 입력을 분석해 경쟁사 에이전트를 호출하고, 경쟁사 에이전트가 비어 있는 혜택을 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개별 활용: 타 전문가와 협의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10 / 10</a:t>
            </a:r>
            <a:endParaRPr lang="en-US" sz="1200" dirty="0"/>
          </a:p>
        </p:txBody>
      </p:sp>
      <p:pic>
        <p:nvPicPr>
          <p:cNvPr id="7" name="화면이미지(교체)" descr="장면 10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필요 시 타 전문가 에이전트를 함께 호출해 의견 종합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혜택 공백이 곧 수요를 의미하지 않으므로 소비자·트렌드 에이전트 추가 호출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3개 에이전트가 의견을 교환해 종합 의견 정리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최종 판단은 사람이 수행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혜택 공백이 곧 수요는 아니므로 오케스트레이터가 소비자·트렌드 에이전트를 함께 호출해 의견을 취합하고, 최종 의사결정은 사람을 지원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사용자 화면 구성 샘플 3종</a:t>
            </a:r>
            <a:endParaRPr lang="en-US" sz="3200" dirty="0"/>
          </a:p>
        </p:txBody>
      </p:sp>
      <p:pic>
        <p:nvPicPr>
          <p:cNvPr id="3" name="화면샘플1" descr="대화형 화면 와이어프레임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3639312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463040"/>
            <a:ext cx="3639312" cy="18288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554480"/>
            <a:ext cx="118872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52044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1. 대화형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7764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좌측 대화 기록, 중앙 대화·진행 로그 구성</a:t>
            </a:r>
            <a:endParaRPr lang="en-US" sz="1400" dirty="0"/>
          </a:p>
        </p:txBody>
      </p:sp>
      <p:pic>
        <p:nvPicPr>
          <p:cNvPr id="9" name="화면샘플2" descr="연결도형 화면 와이어프레임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463040"/>
            <a:ext cx="3639312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70248" y="1463040"/>
            <a:ext cx="3639312" cy="18288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61688" y="1554480"/>
            <a:ext cx="118872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361688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270248" y="352044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2. 연결도형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270248" y="397764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대화와 병행해 에이전트 간 연결 구조를 실시간 표시</a:t>
            </a:r>
            <a:endParaRPr lang="en-US" sz="1400" dirty="0"/>
          </a:p>
        </p:txBody>
      </p:sp>
      <p:pic>
        <p:nvPicPr>
          <p:cNvPr id="15" name="화면샘플3" descr="리포트형 화면 와이어프레임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3296" y="1463040"/>
            <a:ext cx="3639312" cy="1828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83296" y="1463040"/>
            <a:ext cx="3639312" cy="18288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74736" y="1554480"/>
            <a:ext cx="118872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174736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083296" y="352044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3. 리포트형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083296" y="397764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우측 절반에 신상품기획보고서(HTML) 표시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3개 형태의 조합 가능. 현재 시연 화면은 대화형 기반에 연결도·보고서 탭을 결합한 구성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화면 샘플: 대화형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화면 샘플 · 1 / 3</a:t>
            </a:r>
            <a:endParaRPr lang="en-US" sz="1200" dirty="0"/>
          </a:p>
        </p:txBody>
      </p:sp>
      <p:pic>
        <p:nvPicPr>
          <p:cNvPr id="7" name="화면이미지(교체)" descr="대화형 화면 와이어프레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좌측 대화 기록, 중앙 대화·진행 로그 구성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1737360"/>
            <a:ext cx="3776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좌측: 기획 대화 기록 목록, 새 대화 시작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중앙: 요청·에이전트 답변을 대화 형태로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오케스트레이터·에이전트 진행 로그를 대화 내 시간순으로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단계 요약 카드와 ‘보고서로 보기’ 버튼 제공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기대 효과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407408"/>
            <a:ext cx="3776472" cy="1719072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19872" y="4498848"/>
            <a:ext cx="3447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메신저와 유사한 형태로 신규 사용자의 진입 장벽이 낮음. 사람 확인 단계도 대화 내 버튼으로 처리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화면 샘플: 연결도형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화면 샘플 · 2 / 3</a:t>
            </a:r>
            <a:endParaRPr lang="en-US" sz="1200" dirty="0"/>
          </a:p>
        </p:txBody>
      </p:sp>
      <p:pic>
        <p:nvPicPr>
          <p:cNvPr id="7" name="화면이미지(교체)" descr="연결도형 화면 와이어프레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대화와 병행해 에이전트 간 연결 구조를 실시간 표시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1737360"/>
            <a:ext cx="3776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좌측: 대화·진행 로그(축소)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우측: 오케스트레이터와 에이전트의 연결 구조도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실행 중·완료·대기를 색으로 구분, 선택 에이전트(가드레일)는 점선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하단에 현재 연결 상태를 한 줄로 요약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기대 효과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407408"/>
            <a:ext cx="3776472" cy="1719072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19872" y="4498848"/>
            <a:ext cx="3447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에이전트의 동시 수행과 상호 협의를 직관적으로 전달, 시연·설명에 효과적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화면 샘플: 리포트형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화면 샘플 · 3 / 3</a:t>
            </a:r>
            <a:endParaRPr lang="en-US" sz="1200" dirty="0"/>
          </a:p>
        </p:txBody>
      </p:sp>
      <p:pic>
        <p:nvPicPr>
          <p:cNvPr id="7" name="화면이미지(교체)" descr="리포트형 화면 와이어프레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우측 절반에 신상품기획보고서(HTML) 표시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1737360"/>
            <a:ext cx="3776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좌측: 대화 및 최종 요약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우측 절반: 신상품기획보고서 미리보기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대표 이미지를 제목과 함께 상단 배치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 저장·인쇄 지원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기대 효과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407408"/>
            <a:ext cx="3776472" cy="1719072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19872" y="4498848"/>
            <a:ext cx="3447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 결과가 하나의 문서로 통합되어 즉시 검토·보고 가능, 수정 요청은 대화로 반영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확인 요청 사항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시나리오 선택: 안 A(투자 연계 카드) 또는 안 B(GenZ 일반 소비 카드)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영상 길이·시청 대상: 3분대, 현업 담당자 중심 구성 기준 확인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화면 이미지: 와이어프레임 버전과 실제 화면 버전 2종 제공, 공개 가능 범위 확인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사용자 화면 형태: 대화형·연결도형·리포트형 중 선호안 또는 조합 여부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외부 공개 여부: 공개 시 카드명·회사명 비식별 처리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현행 기획 소요 기간: 오프닝 반영용 수치 제공 (미제공 시 수치 없이 진행)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회신 후 장면 구성·자막 확정, 녹화는 장면별 개별 진행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AgentStoryboard">
  <a:themeElements>
    <a:clrScheme name="CardAgentStoryboard">
      <a:dk1>
        <a:srgbClr val="111827"/>
      </a:dk1>
      <a:lt1>
        <a:srgbClr val="FFFFFF"/>
      </a:lt1>
      <a:dk2>
        <a:srgbClr val="243049"/>
      </a:dk2>
      <a:lt2>
        <a:srgbClr val="F1F4F8"/>
      </a:lt2>
      <a:accent1>
        <a:srgbClr val="0E8F80"/>
      </a:accent1>
      <a:accent2>
        <a:srgbClr val="E4572E"/>
      </a:accent2>
      <a:accent3>
        <a:srgbClr val="E9A92B"/>
      </a:accent3>
      <a:accent4>
        <a:srgbClr val="4C63D2"/>
      </a:accent4>
      <a:accent5>
        <a:srgbClr val="5B6577"/>
      </a:accent5>
      <a:accent6>
        <a:srgbClr val="2EC4A6"/>
      </a:accent6>
      <a:hlink>
        <a:srgbClr val="0E8F80"/>
      </a:hlink>
      <a:folHlink>
        <a:srgbClr val="5B6577"/>
      </a:folHlink>
    </a:clrScheme>
    <a:fontScheme name="CardAgentStoryboar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 신상품 기획 AI 에이전트 — 데모 영상 스토리보드</dc:title>
  <dc:subject>PptxGenJS Presentation</dc:subject>
  <dc:creator>PM</dc:creator>
  <cp:lastModifiedBy>PM</cp:lastModifiedBy>
  <cp:revision>1</cp:revision>
  <dcterms:created xsi:type="dcterms:W3CDTF">2026-10-20T15:19:26Z</dcterms:created>
  <dcterms:modified xsi:type="dcterms:W3CDTF">2026-10-20T15:19:26Z</dcterms:modified>
</cp:coreProperties>
</file>